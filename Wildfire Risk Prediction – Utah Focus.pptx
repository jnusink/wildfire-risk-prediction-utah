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0" r:id="rId6"/>
    <p:sldId id="277" r:id="rId7"/>
    <p:sldId id="276" r:id="rId8"/>
    <p:sldId id="275" r:id="rId9"/>
    <p:sldId id="274" r:id="rId10"/>
    <p:sldId id="273" r:id="rId11"/>
    <p:sldId id="272" r:id="rId12"/>
    <p:sldId id="271" r:id="rId13"/>
    <p:sldId id="278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737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204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132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741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186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42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398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823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2E172-0748-CE01-9039-5D14A1D56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F6046-D92C-A924-5B0A-BD808D56A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5DDF0-9FAE-1101-8CA1-634283EB2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CC43A-DCE8-82C4-5222-D81BF9170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41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325" y="1447800"/>
            <a:ext cx="9821098" cy="332958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Wildfire Risk Prediction – Utah Focus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Midterm Capstone Progress</a:t>
            </a:r>
            <a:br>
              <a:rPr lang="en-US" dirty="0"/>
            </a:br>
            <a:r>
              <a:rPr lang="en-US" dirty="0"/>
              <a:t>Jared Nusink</a:t>
            </a:r>
            <a:br>
              <a:rPr lang="en-US" dirty="0"/>
            </a:br>
            <a:r>
              <a:rPr lang="en-US" dirty="0"/>
              <a:t>February 2026</a:t>
            </a:r>
          </a:p>
          <a:p>
            <a:endParaRPr lang="en-US" dirty="0"/>
          </a:p>
          <a:p>
            <a:endParaRPr lang="en-US" dirty="0">
              <a:effectLst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5FC8C-B8BC-983F-DE60-D87A60AE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/>
              <a:t>Problem &amp; Research Question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BB9A5F-78D0-4A08-997C-E269BF45CDB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03312" y="2060575"/>
            <a:ext cx="4396339" cy="419576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Wildfires in Utah are increasing due to climate change, drought, and human activity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Key challenge: Most national models overlook local factors like dust from the shrinking Great Salt Lake, which dries fuels and increases ignition risk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Research question: How can incorporating Great Salt Lake dust exposure and human proximity improve wildfire ignition prediction in Utah?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Scope: Focus on Wasatch Front and Saratoga Springs areas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Explanation of need: Better local predictions can save lives, property, and resources (e.g., 2020 Utah fires cost $150M)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866A73-76ED-5C2C-32F1-B1F164FC2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319" y="2056092"/>
            <a:ext cx="3244689" cy="42002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456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6850-2048-962A-A26F-9082E48A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896E1-D604-8C7C-BACE-4DCA5BCD7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 dirty="0"/>
              <a:t>Novelty &amp; Real-world Impact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E8C4B9-D133-B1D4-A808-6B2C5049B4E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03312" y="2060575"/>
            <a:ext cx="4396339" cy="419576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Novelty: First model to include Great Salt Lake dust exposure as a feature (inverse distance score)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Adds human ignition proxy: distance to roads and cities (major cause of Utah fires)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Hybrid ML + physics: </a:t>
            </a:r>
            <a:r>
              <a:rPr kumimoji="0" lang="en-US" altLang="en-US" sz="1500" b="0" i="0" u="none" strike="noStrike" cap="none" normalizeH="0" baseline="0" err="1">
                <a:ln>
                  <a:noFill/>
                </a:ln>
                <a:effectLst/>
              </a:rPr>
              <a:t>XGBoost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classifier + dryness adjustment for interpretability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Real-world impact: Localized risk forecasts for Wasatch Front (e.g., Saratoga Springs) can guide prevention, evacuation, and resource allocation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Potential: Integrate with Utah DEQ air quality or UFS fire apps for public use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0F91F0-AE63-D1A9-A27D-6A4FC730B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493" y="3068120"/>
            <a:ext cx="4396341" cy="2176188"/>
          </a:xfrm>
          <a:prstGeom prst="rect">
            <a:avLst/>
          </a:prstGeom>
          <a:noFill/>
        </p:spPr>
      </p:pic>
      <p:sp>
        <p:nvSpPr>
          <p:cNvPr id="5" name="AutoShape 3">
            <a:extLst>
              <a:ext uri="{FF2B5EF4-FFF2-40B4-BE49-F238E27FC236}">
                <a16:creationId xmlns:a16="http://schemas.microsoft.com/office/drawing/2014/main" id="{57E79197-0D32-43AC-6C3C-35B5861498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61761" y="42385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49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8350C-835F-5CF5-AD70-5308E6090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B46E7-CC19-2DD8-07B3-4EBCE7CDE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 dirty="0"/>
              <a:t>Dataset &amp; Metadata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7A859D-73B1-BDF9-9556-31A421707F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2052918"/>
            <a:ext cx="8946541" cy="4195481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Source: NASA FIRMS (VIIRS satellite) active fire detections, 2012–2026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Size: ~3 million records → filtered to Utah subset (77,566 high-confidence fires)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Key metadata: latitude/longitude (location),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</a:rPr>
              <a:t>acq_date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(time), brightness/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</a:rPr>
              <a:t>frp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(intensity proxy), confidence (quality filter)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Labeling: Binary ignition (1 if fire detected in grid cell that day, 0 otherwise)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Augmentation: Dust exposure, road distance, dryness proxies from weather metadata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Stored in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</a:rPr>
              <a:t>DuckDB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for efficient querying (local file) </a:t>
            </a:r>
          </a:p>
        </p:txBody>
      </p:sp>
    </p:spTree>
    <p:extLst>
      <p:ext uri="{BB962C8B-B14F-4D97-AF65-F5344CB8AC3E}">
        <p14:creationId xmlns:p14="http://schemas.microsoft.com/office/powerpoint/2010/main" val="142367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909AF-1B89-2023-91A2-71F83F90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7C6B0-908E-C694-161A-DFBABF3BA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 sz="3900"/>
              <a:t>Data Cleaning &amp; Feature Engineering</a:t>
            </a:r>
            <a:br>
              <a:rPr lang="en-US" sz="3900"/>
            </a:br>
            <a:endParaRPr lang="en-US" sz="39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B2B0F5-855E-B4C1-1831-61D93074982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03312" y="2060575"/>
            <a:ext cx="4396339" cy="419576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Cleaning: Removed low-confidence detections, clipped to Utah bounds (</a:t>
            </a:r>
            <a:r>
              <a:rPr kumimoji="0" lang="en-US" altLang="en-US" sz="1500" b="0" i="0" u="none" strike="noStrike" cap="none" normalizeH="0" baseline="0" err="1">
                <a:ln>
                  <a:noFill/>
                </a:ln>
                <a:effectLst/>
              </a:rPr>
              <a:t>lat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37–42, </a:t>
            </a:r>
            <a:r>
              <a:rPr kumimoji="0" lang="en-US" altLang="en-US" sz="1500" b="0" i="0" u="none" strike="noStrike" cap="none" normalizeH="0" baseline="0" err="1">
                <a:ln>
                  <a:noFill/>
                </a:ln>
                <a:effectLst/>
              </a:rPr>
              <a:t>lon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-114 to -109)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Processing: Grouped to 0.1° grid cells, created daily labels (13.57M rows)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Feature engineering: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Dust exposure (inverse distance to lake center)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Road proximity (</a:t>
            </a:r>
            <a:r>
              <a:rPr kumimoji="0" lang="en-US" altLang="en-US" sz="1500" b="0" i="0" u="none" strike="noStrike" cap="none" normalizeH="0" baseline="0" err="1">
                <a:ln>
                  <a:noFill/>
                </a:ln>
                <a:effectLst/>
              </a:rPr>
              <a:t>cdist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to highway points)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Dryness proxies (VPD from temp/RH, diurnal temp range, low-</a:t>
            </a:r>
            <a:r>
              <a:rPr kumimoji="0" lang="en-US" altLang="en-US" sz="1500" b="0" i="0" u="none" strike="noStrike" cap="none" normalizeH="0" baseline="0" err="1">
                <a:ln>
                  <a:noFill/>
                </a:ln>
                <a:effectLst/>
              </a:rPr>
              <a:t>precip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boost)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Month, </a:t>
            </a:r>
            <a:r>
              <a:rPr kumimoji="0" lang="en-US" altLang="en-US" sz="1500" b="0" i="0" u="none" strike="noStrike" cap="none" normalizeH="0" baseline="0" err="1">
                <a:ln>
                  <a:noFill/>
                </a:ln>
                <a:effectLst/>
              </a:rPr>
              <a:t>lat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/</a:t>
            </a:r>
            <a:r>
              <a:rPr kumimoji="0" lang="en-US" altLang="en-US" sz="1500" b="0" i="0" u="none" strike="noStrike" cap="none" normalizeH="0" baseline="0" err="1">
                <a:ln>
                  <a:noFill/>
                </a:ln>
                <a:effectLst/>
              </a:rPr>
              <a:t>lon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Handled imbalance (</a:t>
            </a:r>
            <a:r>
              <a:rPr kumimoji="0" lang="en-US" altLang="en-US" sz="1500" b="0" i="0" u="none" strike="noStrike" cap="none" normalizeH="0" baseline="0" err="1">
                <a:ln>
                  <a:noFill/>
                </a:ln>
                <a:effectLst/>
              </a:rPr>
              <a:t>scale_pos_weight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= 3301)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438564-4966-565E-DF48-B67491D896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347" b="-3"/>
          <a:stretch>
            <a:fillRect/>
          </a:stretch>
        </p:blipFill>
        <p:spPr>
          <a:xfrm>
            <a:off x="5654493" y="2056092"/>
            <a:ext cx="4396341" cy="42002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4106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7232A-B525-04C8-62D8-D7EC4B9FE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5294-9D37-414F-CBDE-853916D36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 dirty="0"/>
              <a:t>Data Analysis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9BF1F5-34B1-D353-B77F-22CB3C91E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43" y="3142409"/>
            <a:ext cx="4770850" cy="2027610"/>
          </a:xfrm>
          <a:prstGeom prst="rect">
            <a:avLst/>
          </a:prstGeom>
          <a:noFill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6C4073E-A147-552B-CB51-AF6B7685BA1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654493" y="2056092"/>
            <a:ext cx="4396341" cy="420024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Fire trends: Peaks in July–August, increasing over time (EDA graphs in plots/)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Imbalance: 0.03% fire days (99.97% no-fire) — typical for rare events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Dust exposure: Max 1.0 near lake, mean 0.00004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Road proximity: Lower distances near urban corridors like Wasatch Front </a:t>
            </a:r>
          </a:p>
        </p:txBody>
      </p:sp>
    </p:spTree>
    <p:extLst>
      <p:ext uri="{BB962C8B-B14F-4D97-AF65-F5344CB8AC3E}">
        <p14:creationId xmlns:p14="http://schemas.microsoft.com/office/powerpoint/2010/main" val="1090514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BAF3C-F659-E954-BCBF-1CBF60AF5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B80C8-3862-9D55-E3D0-84BE8348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 dirty="0"/>
              <a:t>Data Visualization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7ED0CA-1CE2-5D18-5B05-5BF2F8CA216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03312" y="2060575"/>
            <a:ext cx="4396339" cy="419576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Yearly fire trends: Increasing detections, peaks in 2018 &amp; 2025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Monthly seasonality: July/August hotspot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Dust exposure map: Higher near lake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Daily risk forecast: Interactive heatmap (screenshots in plots/)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SHAP plots: Feature importance &amp; interactions (e.g., dust + dryness)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EF1982-E392-164B-CCCF-3725B6493D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40" r="318" b="1"/>
          <a:stretch>
            <a:fillRect/>
          </a:stretch>
        </p:blipFill>
        <p:spPr>
          <a:xfrm>
            <a:off x="5654493" y="2056092"/>
            <a:ext cx="4396341" cy="42002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058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DA0FF-B60E-0A1E-E595-B6DCC292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6D5A-53DA-1E07-A11F-891E1E302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Approach &amp; Execution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AF7DBF-19E9-0CA1-12AD-C9D40EBA76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3273495"/>
            <a:ext cx="940472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Task: Binary classification (ignition 0/1 per grid cell-day)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Model: XGBoost Classifier with imbalance handling (scale_pos_weight = 3301)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Execution: Trained on 13.57M rows (10M subset for midterm)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Validation: Test set (20%), AUC-ROC metric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Hybrid: Physics boost for dryness/wind/dust </a:t>
            </a:r>
          </a:p>
        </p:txBody>
      </p:sp>
    </p:spTree>
    <p:extLst>
      <p:ext uri="{BB962C8B-B14F-4D97-AF65-F5344CB8AC3E}">
        <p14:creationId xmlns:p14="http://schemas.microsoft.com/office/powerpoint/2010/main" val="3364215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BFC1-E97B-049B-E89E-8ADC7C97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4F722-8978-D0C2-C6FE-A9BA94F9C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 dirty="0"/>
              <a:t>Results &amp; Interpretation</a:t>
            </a:r>
            <a:endParaRPr lang="en-US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F4B13-4CA8-9940-3F21-DD22E35CB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985" y="2060575"/>
            <a:ext cx="2978992" cy="4195763"/>
          </a:xfrm>
          <a:prstGeom prst="rect">
            <a:avLst/>
          </a:prstGeom>
          <a:noFill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48F472C-AA8F-26E7-1C36-03888982B9A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654493" y="2056092"/>
            <a:ext cx="4396341" cy="420024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AUC-ROC: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0.9671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(strong for rare events)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Recall for fires: 0.91 (catches 91% of actual fires)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Interpretation: Model prioritizes safety (high recall, some false positives)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Impact: Better risk forecasts for Utah (e.g., lake dust hotspots) </a:t>
            </a:r>
          </a:p>
        </p:txBody>
      </p:sp>
    </p:spTree>
    <p:extLst>
      <p:ext uri="{BB962C8B-B14F-4D97-AF65-F5344CB8AC3E}">
        <p14:creationId xmlns:p14="http://schemas.microsoft.com/office/powerpoint/2010/main" val="3577452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9CF8B-5AEA-F45C-BB07-B5A800E0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D1023-0738-40CE-FC5E-F90696F9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Next Steps</a:t>
            </a:r>
            <a:br>
              <a:rPr lang="en-US" dirty="0"/>
            </a:br>
            <a:endParaRPr lang="en-US" dirty="0">
              <a:effectLst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14589DC-F694-3980-1774-CDEB2C34BB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0085" y="3306648"/>
            <a:ext cx="912134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 Novel dust model improves Utah risk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Next: Full grid training, per-cell weather,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 </a:t>
            </a:r>
          </a:p>
        </p:txBody>
      </p:sp>
    </p:spTree>
    <p:extLst>
      <p:ext uri="{BB962C8B-B14F-4D97-AF65-F5344CB8AC3E}">
        <p14:creationId xmlns:p14="http://schemas.microsoft.com/office/powerpoint/2010/main" val="1834870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-80447" y="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50</TotalTime>
  <Words>678</Words>
  <Application>Microsoft Office PowerPoint</Application>
  <PresentationFormat>Widescreen</PresentationFormat>
  <Paragraphs>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</vt:lpstr>
      <vt:lpstr>Wildfire Risk Prediction – Utah Focus</vt:lpstr>
      <vt:lpstr>Problem &amp; Research Question </vt:lpstr>
      <vt:lpstr>Novelty &amp; Real-world Impact </vt:lpstr>
      <vt:lpstr>Dataset &amp; Metadata </vt:lpstr>
      <vt:lpstr>Data Cleaning &amp; Feature Engineering </vt:lpstr>
      <vt:lpstr>Data Analysis </vt:lpstr>
      <vt:lpstr>Data Visualization </vt:lpstr>
      <vt:lpstr>Modeling Approach &amp; Execution </vt:lpstr>
      <vt:lpstr>Results &amp; Interpretation</vt:lpstr>
      <vt:lpstr>Conclusion &amp; Next Steps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Jared Nusink</dc:creator>
  <cp:lastModifiedBy>Jared Nusink</cp:lastModifiedBy>
  <cp:revision>2</cp:revision>
  <dcterms:created xsi:type="dcterms:W3CDTF">2026-02-05T01:43:09Z</dcterms:created>
  <dcterms:modified xsi:type="dcterms:W3CDTF">2026-02-05T02:33:14Z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